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509"/>
          </a:solidFill>
          <a:ln w="12700">
            <a:solidFill>
              <a:srgbClr val="0D1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0292" cy="5143500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02920"/>
            <a:ext cx="3749040" cy="3749040"/>
          </a:xfrm>
          <a:prstGeom prst="ellipse">
            <a:avLst/>
          </a:prstGeom>
          <a:solidFill>
            <a:srgbClr val="2A5220">
              <a:alpha val="45000"/>
            </a:srgbClr>
          </a:solidFill>
          <a:ln w="10160">
            <a:solidFill>
              <a:srgbClr val="3D70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932688"/>
            <a:ext cx="2889504" cy="2889504"/>
          </a:xfrm>
          <a:prstGeom prst="ellipse">
            <a:avLst/>
          </a:prstGeom>
          <a:solidFill>
            <a:srgbClr val="3D7033">
              <a:alpha val="30000"/>
            </a:srgbClr>
          </a:solidFill>
          <a:ln w="7620">
            <a:solidFill>
              <a:srgbClr val="6AA8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444752"/>
            <a:ext cx="1865376" cy="1865376"/>
          </a:xfrm>
          <a:prstGeom prst="ellipse">
            <a:avLst/>
          </a:prstGeom>
          <a:solidFill>
            <a:srgbClr val="2A5220">
              <a:alpha val="55000"/>
            </a:srgbClr>
          </a:solidFill>
          <a:ln w="6350">
            <a:solidFill>
              <a:srgbClr val="9DC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002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DC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ᚹ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300" kern="0" dirty="0">
                <a:solidFill>
                  <a:srgbClr val="9DC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WILDSOUL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spc="100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SHIFT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simulación de vida para la comunidad Therian.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48716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Bienestar · Comunidad · Naturaleza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3246120"/>
            <a:ext cx="1005840" cy="1371600"/>
          </a:xfrm>
          <a:prstGeom prst="rect">
            <a:avLst/>
          </a:prstGeom>
          <a:solidFill>
            <a:srgbClr val="0D1509"/>
          </a:solidFill>
          <a:ln w="10160">
            <a:solidFill>
              <a:srgbClr val="2A5220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3246120"/>
            <a:ext cx="1005840" cy="45720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337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250K+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Therians globales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79008" y="3246120"/>
            <a:ext cx="1005840" cy="1371600"/>
          </a:xfrm>
          <a:prstGeom prst="rect">
            <a:avLst/>
          </a:prstGeom>
          <a:solidFill>
            <a:srgbClr val="0D1509"/>
          </a:solidFill>
          <a:ln w="10160">
            <a:solidFill>
              <a:srgbClr val="2A5220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3246120"/>
            <a:ext cx="1005840" cy="45720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3337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24728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dedicadas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94576" y="3246120"/>
            <a:ext cx="1005840" cy="1371600"/>
          </a:xfrm>
          <a:prstGeom prst="rect">
            <a:avLst/>
          </a:prstGeom>
          <a:solidFill>
            <a:srgbClr val="0D1509"/>
          </a:solidFill>
          <a:ln w="10160">
            <a:solidFill>
              <a:srgbClr val="2A5220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3246120"/>
            <a:ext cx="1005840" cy="45720"/>
          </a:xfrm>
          <a:prstGeom prst="rect">
            <a:avLst/>
          </a:prstGeom>
          <a:solidFill>
            <a:srgbClr val="9DC98A"/>
          </a:solidFill>
          <a:ln w="12700">
            <a:solidFill>
              <a:srgbClr val="9DC9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3337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0296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vendidos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10144" y="3246120"/>
            <a:ext cx="1005840" cy="1371600"/>
          </a:xfrm>
          <a:prstGeom prst="rect">
            <a:avLst/>
          </a:prstGeom>
          <a:solidFill>
            <a:srgbClr val="0D1509"/>
          </a:solidFill>
          <a:ln w="10160">
            <a:solidFill>
              <a:srgbClr val="2A5220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0144" y="3246120"/>
            <a:ext cx="1005840" cy="45720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3337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55864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V1.0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17+  ·  SwiftUI  ·  SwiftData  ·  Node.js  ·  PostgreSQL  ·  Redis  ·  MapKit  ·  CoreLocation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comunidad Therian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tiene dónde existir.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250,000+ personas identificadas globalmente. Cero herramientas digitales diseñadas para ellas.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4041648" cy="1371600"/>
          </a:xfrm>
          <a:prstGeom prst="rect">
            <a:avLst/>
          </a:prstGeom>
          <a:solidFill>
            <a:srgbClr val="141008"/>
          </a:solidFill>
          <a:ln w="10160">
            <a:solidFill>
              <a:srgbClr val="C45A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54864" cy="1371600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Disforia sin apoyo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68% de los therians reporta episodios de disforia de especie sin ningún recurso digital específico para gestionarlos.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99432" y="2011680"/>
            <a:ext cx="4041648" cy="1371600"/>
          </a:xfrm>
          <a:prstGeom prst="rect">
            <a:avLst/>
          </a:prstGeom>
          <a:solidFill>
            <a:srgbClr val="141008"/>
          </a:solidFill>
          <a:ln w="10160">
            <a:solidFill>
              <a:srgbClr val="C488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011680"/>
            <a:ext cx="54864" cy="1371600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148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fragmentada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450592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Discord, Reddit, foros dispersos. No hay un espacio unificado de identidad, bienestar y comunidad para therians.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547872"/>
            <a:ext cx="4041648" cy="1371600"/>
          </a:xfrm>
          <a:prstGeom prst="rect">
            <a:avLst/>
          </a:prstGeom>
          <a:solidFill>
            <a:srgbClr val="141008"/>
          </a:solidFill>
          <a:ln w="10160">
            <a:solidFill>
              <a:srgbClr val="8A9A88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47872"/>
            <a:ext cx="54864" cy="1371600"/>
          </a:xfrm>
          <a:prstGeom prst="rect">
            <a:avLst/>
          </a:prstGeom>
          <a:solidFill>
            <a:srgbClr val="8A9A88"/>
          </a:solidFill>
          <a:ln w="12700">
            <a:solidFill>
              <a:srgbClr val="8A9A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850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genéricas inútiles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8678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Sims y apps de bienestar ignoran la identidad no-humana. Nadie ha construido para este nicho con seriedad.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99432" y="3547872"/>
            <a:ext cx="4041648" cy="1371600"/>
          </a:xfrm>
          <a:prstGeom prst="rect">
            <a:avLst/>
          </a:prstGeom>
          <a:solidFill>
            <a:srgbClr val="141008"/>
          </a:solidFill>
          <a:ln w="10160">
            <a:solidFill>
              <a:srgbClr val="6A9AB8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9432" y="3547872"/>
            <a:ext cx="54864" cy="1371600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6850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vulnerada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398678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identidad therian en plataformas masivas expone a discriminación. Se necesita un espacio seguro y privado.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C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WildSoul: The Shift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simulación de vida donde la identidad Therian es el núcleo — no el accidente.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6AA85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72768"/>
            <a:ext cx="2761488" cy="54864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824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Shift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13969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conexión con tu theriotipo en tiempo real. Tres dimensiones: Mental, Sensorial, Onírico.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45536" y="1572768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9DC98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572768"/>
            <a:ext cx="2761488" cy="54864"/>
          </a:xfrm>
          <a:prstGeom prst="rect">
            <a:avLst/>
          </a:prstGeom>
          <a:solidFill>
            <a:srgbClr val="9DC98A"/>
          </a:solidFill>
          <a:ln w="12700">
            <a:solidFill>
              <a:srgbClr val="9DC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6824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85616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D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Armonía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73552" y="213969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Euforia vs. disforia calculada server-side. La fórmula nunca vive en el cliente — integridad garantizada.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572768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C488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72768"/>
            <a:ext cx="2761488" cy="54864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824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Nocturno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3056" y="213969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diario: meditación 4-4-6, hábitat natural, registro de bienestar con tendencia semanal.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291840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6A9AB8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291840"/>
            <a:ext cx="2761488" cy="54864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Explorable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8587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MapKit + Geofencing real: +15 euforia al entrar físicamente en un parque o bosque.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45536" y="3291840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C488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45536" y="3291840"/>
            <a:ext cx="2761488" cy="54864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85616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Packs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73552" y="38587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Manadas por theriotipo con roles (Alpha/Beta/Omega), eventos y chat realtime via Redis.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291840"/>
            <a:ext cx="2761488" cy="1572768"/>
          </a:xfrm>
          <a:prstGeom prst="rect">
            <a:avLst/>
          </a:prstGeom>
          <a:solidFill>
            <a:srgbClr val="122010"/>
          </a:solidFill>
          <a:ln w="10160">
            <a:solidFill>
              <a:srgbClr val="C45A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291840"/>
            <a:ext cx="2761488" cy="54864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75120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Absoluta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63056" y="385876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local-first. CloudKit opcional. Cero venta de datos. Borrado total en un tap.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220"/>
          </a:solidFill>
          <a:ln w="12700">
            <a:solidFill>
              <a:srgbClr val="2A5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5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TÉCNICOS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nuestra arquitectura supera a cualquier app de bienestar existente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651760"/>
                <a:gridCol w="3611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D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genéricas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WildSoul: The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2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del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 cosmético sin significado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TheriotipoProfile: traits, triggers, shift affinity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bienestar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simples calculados en cliente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HarmonyScore server-side — fórmula versionada e intocable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C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Geolocalización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integración o genérica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MapKit + CoreLocation Geofencing + Metal Shaders Instinct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o iCloud Drive genérico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SwiftData local-first + CloudKit sync automático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C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 de datos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vendidos a anunciantes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ads, cero venta, borrado total en un tap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genérico sin identidad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Packs por theriotipo + Redis Pub/Sub realtime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C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2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offline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4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muy limitada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5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funcional sin internet — sync al reconectar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Diseñado para escalar de 0 a 500K usuarios sin re-arquitectura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5029200" cy="585216"/>
          </a:xfrm>
          <a:prstGeom prst="rect">
            <a:avLst/>
          </a:prstGeom>
          <a:solidFill>
            <a:srgbClr val="0D200A"/>
          </a:solidFill>
          <a:ln w="8890">
            <a:solidFill>
              <a:srgbClr val="6AA8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54864" cy="585216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070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/ iOS 17+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92224" y="107899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Canvas partículas 60fps · MeshGradient hábitats · Metal Shaders Instinct Mode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" y="1655064"/>
            <a:ext cx="5029200" cy="585216"/>
          </a:xfrm>
          <a:prstGeom prst="rect">
            <a:avLst/>
          </a:prstGeom>
          <a:solidFill>
            <a:srgbClr val="122510"/>
          </a:solidFill>
          <a:ln w="8890">
            <a:solidFill>
              <a:srgbClr val="9DC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655064"/>
            <a:ext cx="54864" cy="585216"/>
          </a:xfrm>
          <a:prstGeom prst="rect">
            <a:avLst/>
          </a:prstGeom>
          <a:solidFill>
            <a:srgbClr val="9DC98A"/>
          </a:solidFill>
          <a:ln w="12700">
            <a:solidFill>
              <a:srgbClr val="9DC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992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D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92224" y="172821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IdentityViewModel · ShiftEngine (Combine) · RitualViewModel · HarmonyCalculator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2304288"/>
            <a:ext cx="5029200" cy="585216"/>
          </a:xfrm>
          <a:prstGeom prst="rect">
            <a:avLst/>
          </a:prstGeom>
          <a:solidFill>
            <a:srgbClr val="1A1A08"/>
          </a:solidFill>
          <a:ln w="8890">
            <a:solidFill>
              <a:srgbClr val="C488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304288"/>
            <a:ext cx="54864" cy="585216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92224" y="2377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TheriotipoProfile · RitualRecord · local-first · CloudKit sync · fetchLimit estricto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953512"/>
            <a:ext cx="5029200" cy="585216"/>
          </a:xfrm>
          <a:prstGeom prst="rect">
            <a:avLst/>
          </a:prstGeom>
          <a:solidFill>
            <a:srgbClr val="0A1820"/>
          </a:solidFill>
          <a:ln w="8890">
            <a:solidFill>
              <a:srgbClr val="6A9A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953512"/>
            <a:ext cx="54864" cy="585216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083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92224" y="302666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· JWT rotation · Rate limiting · Zod validation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1168" y="3602736"/>
            <a:ext cx="5029200" cy="585216"/>
          </a:xfrm>
          <a:prstGeom prst="rect">
            <a:avLst/>
          </a:prstGeom>
          <a:solidFill>
            <a:srgbClr val="0A1020"/>
          </a:solidFill>
          <a:ln w="8890">
            <a:solidFill>
              <a:srgbClr val="7A9A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602736"/>
            <a:ext cx="54864" cy="585216"/>
          </a:xfrm>
          <a:prstGeom prst="rect">
            <a:avLst/>
          </a:prstGeom>
          <a:solidFill>
            <a:srgbClr val="7A9AC8"/>
          </a:solidFill>
          <a:ln w="12700">
            <a:solidFill>
              <a:srgbClr val="7A9A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5760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7A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92224" y="367588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8 tablas FK · unique constraints · soft delete · migrations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4251960"/>
            <a:ext cx="5029200" cy="585216"/>
          </a:xfrm>
          <a:prstGeom prst="rect">
            <a:avLst/>
          </a:prstGeom>
          <a:solidFill>
            <a:srgbClr val="1A0808"/>
          </a:solidFill>
          <a:ln w="8890">
            <a:solidFill>
              <a:srgbClr val="C45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4251960"/>
            <a:ext cx="54864" cy="585216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068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92224" y="432511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perfiles (1h TTL) · JWT blacklist · Rate limit distribuido · Pub/Sub pack chat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1005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1325880"/>
            <a:ext cx="3429000" cy="658368"/>
          </a:xfrm>
          <a:prstGeom prst="rect">
            <a:avLst/>
          </a:prstGeom>
          <a:solidFill>
            <a:srgbClr val="0F1A0C"/>
          </a:solidFill>
          <a:ln w="8890">
            <a:solidFill>
              <a:srgbClr val="6AA8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1325880"/>
            <a:ext cx="54864" cy="658368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141732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@Model macro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87568" y="165506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menos boilerplate que Core Data. Mismo motor SQLite subyacente.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32120" y="2084832"/>
            <a:ext cx="3429000" cy="658368"/>
          </a:xfrm>
          <a:prstGeom prst="rect">
            <a:avLst/>
          </a:prstGeom>
          <a:solidFill>
            <a:srgbClr val="0F1A0C"/>
          </a:solidFill>
          <a:ln w="8890">
            <a:solidFill>
              <a:srgbClr val="6A9A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2084832"/>
            <a:ext cx="54864" cy="658368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1762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Rotation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87568" y="241401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refresh token es de un solo uso. Detección de token robado automática.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32120" y="2843784"/>
            <a:ext cx="3429000" cy="658368"/>
          </a:xfrm>
          <a:prstGeom prst="rect">
            <a:avLst/>
          </a:prstGeom>
          <a:solidFill>
            <a:srgbClr val="0F1A0C"/>
          </a:solidFill>
          <a:ln w="8890">
            <a:solidFill>
              <a:srgbClr val="C488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32120" y="2843784"/>
            <a:ext cx="54864" cy="658368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29352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HarmonyScore server-side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87568" y="31729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se ajusta sin actualizar la app. Integridad garantizada.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3602736"/>
            <a:ext cx="3429000" cy="658368"/>
          </a:xfrm>
          <a:prstGeom prst="rect">
            <a:avLst/>
          </a:prstGeom>
          <a:solidFill>
            <a:srgbClr val="0F1A0C"/>
          </a:solidFill>
          <a:ln w="8890">
            <a:solidFill>
              <a:srgbClr val="C45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32120" y="3602736"/>
            <a:ext cx="54864" cy="658368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369417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87568" y="39319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chat escala horizontal. Múltiples instancias del servidor comparten canal.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32120" y="4361688"/>
            <a:ext cx="3429000" cy="658368"/>
          </a:xfrm>
          <a:prstGeom prst="rect">
            <a:avLst/>
          </a:prstGeom>
          <a:solidFill>
            <a:srgbClr val="0F1A0C"/>
          </a:solidFill>
          <a:ln w="8890">
            <a:solidFill>
              <a:srgbClr val="9DC9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32120" y="4361688"/>
            <a:ext cx="54864" cy="658368"/>
          </a:xfrm>
          <a:prstGeom prst="rect">
            <a:avLst/>
          </a:prstGeom>
          <a:solidFill>
            <a:srgbClr val="9DC98A"/>
          </a:solidFill>
          <a:ln w="12700">
            <a:solidFill>
              <a:srgbClr val="9DC9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445312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fetchLimit siempre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87568" y="46908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ningún query de lista sin límite explícito. Nunca.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ÉTICO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Monetización que respeta la identidad y privacidad del usuario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011680" cy="3794760"/>
          </a:xfrm>
          <a:prstGeom prst="rect">
            <a:avLst/>
          </a:prstGeom>
          <a:solidFill>
            <a:srgbClr val="150F05"/>
          </a:solidFill>
          <a:ln w="11430">
            <a:solidFill>
              <a:srgbClr val="6AA85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2011680" cy="54864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1828800"/>
            <a:ext cx="1645920" cy="22860"/>
          </a:xfrm>
          <a:prstGeom prst="rect">
            <a:avLst/>
          </a:prstGeom>
          <a:solidFill>
            <a:srgbClr val="6AA85A">
              <a:alpha val="45000"/>
            </a:srgbClr>
          </a:solidFill>
          <a:ln w="12700">
            <a:solidFill>
              <a:srgbClr val="6AA85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202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Shift Meter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3957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Nocturno básico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Theriotipo activo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3467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membership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32304" y="1024128"/>
            <a:ext cx="2011680" cy="3794760"/>
          </a:xfrm>
          <a:prstGeom prst="rect">
            <a:avLst/>
          </a:prstGeom>
          <a:solidFill>
            <a:srgbClr val="150F05"/>
          </a:solidFill>
          <a:ln w="11430">
            <a:solidFill>
              <a:srgbClr val="C8A030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32304" y="1024128"/>
            <a:ext cx="2011680" cy="5486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1155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WildSoul Pro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23744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 / 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15184" y="1828800"/>
            <a:ext cx="1645920" cy="22860"/>
          </a:xfrm>
          <a:prstGeom prst="rect">
            <a:avLst/>
          </a:prstGeom>
          <a:solidFill>
            <a:srgbClr val="C8A030">
              <a:alpha val="45000"/>
            </a:srgbClr>
          </a:solidFill>
          <a:ln w="12700">
            <a:solidFill>
              <a:srgbClr val="C8A03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19202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theriotipos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9464" y="23957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rare + legendary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9464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9464" y="33467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Rituales estacionales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9464" y="38221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integración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1024128"/>
            <a:ext cx="2011680" cy="3794760"/>
          </a:xfrm>
          <a:prstGeom prst="rect">
            <a:avLst/>
          </a:prstGeom>
          <a:solidFill>
            <a:srgbClr val="150F05"/>
          </a:solidFill>
          <a:ln w="11430">
            <a:solidFill>
              <a:srgbClr val="C4882A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1024128"/>
            <a:ext cx="2011680" cy="54864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11155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Store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0016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IAP $0.99–$4.99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91456" y="1828800"/>
            <a:ext cx="1645920" cy="22860"/>
          </a:xfrm>
          <a:prstGeom prst="rect">
            <a:avLst/>
          </a:prstGeom>
          <a:solidFill>
            <a:srgbClr val="C4882A">
              <a:alpha val="45000"/>
            </a:srgbClr>
          </a:solidFill>
          <a:ln w="12700">
            <a:solidFill>
              <a:srgbClr val="C4882A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19202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Tótems legendarios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23957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exclusivas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45736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Skins de hábitat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45736" y="33467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loot boxes — precio fijo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1024128"/>
            <a:ext cx="2011680" cy="3794760"/>
          </a:xfrm>
          <a:prstGeom prst="rect">
            <a:avLst/>
          </a:prstGeom>
          <a:solidFill>
            <a:srgbClr val="150F05"/>
          </a:solidFill>
          <a:ln w="11430">
            <a:solidFill>
              <a:srgbClr val="6A9AB8"/>
            </a:solidFill>
            <a:prstDash val="solid"/>
          </a:ln>
          <a:effectLst>
            <a:outerShdw sx="100000" sy="100000" kx="0" ky="0" algn="bl" rotWithShape="0" blurRad="127000" dist="38100" dir="87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84848" y="1024128"/>
            <a:ext cx="2011680" cy="54864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11155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Premium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76288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$1.99 / pack / mes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67728" y="1828800"/>
            <a:ext cx="1645920" cy="22860"/>
          </a:xfrm>
          <a:prstGeom prst="rect">
            <a:avLst/>
          </a:prstGeom>
          <a:solidFill>
            <a:srgbClr val="6A9AB8">
              <a:alpha val="45000"/>
            </a:srgbClr>
          </a:solidFill>
          <a:ln w="12700">
            <a:solidFill>
              <a:srgbClr val="6A9AB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19202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privado hasta 100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3957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voz (V2.0)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exclusivos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22008" y="33467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manada único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704"/>
          </a:solidFill>
          <a:ln w="12700">
            <a:solidFill>
              <a:srgbClr val="0A070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50" kern="0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NUNCA:  Anuncios  ·  Venta de datos  ·  Loot boxes  ·  Paywall de identidad  ·  Dark patterns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220"/>
          </a:solidFill>
          <a:ln w="12700">
            <a:solidFill>
              <a:srgbClr val="2A5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5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DESARROLLO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fases hacia un ecosistema completo de identidad Therian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54864"/>
          </a:xfrm>
          <a:prstGeom prst="rect">
            <a:avLst/>
          </a:prstGeom>
          <a:solidFill>
            <a:srgbClr val="C8BEAE"/>
          </a:solidFill>
          <a:ln w="12700">
            <a:solidFill>
              <a:srgbClr val="C8BE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143000"/>
            <a:ext cx="256032" cy="256032"/>
          </a:xfrm>
          <a:prstGeom prst="ellipse">
            <a:avLst/>
          </a:prstGeom>
          <a:solidFill>
            <a:srgbClr val="3D7033"/>
          </a:solidFill>
          <a:ln w="12700">
            <a:solidFill>
              <a:srgbClr val="3D7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463040"/>
            <a:ext cx="2084832" cy="3383280"/>
          </a:xfrm>
          <a:prstGeom prst="rect">
            <a:avLst/>
          </a:prstGeom>
          <a:solidFill>
            <a:srgbClr val="F0E8D8"/>
          </a:solidFill>
          <a:ln w="11430">
            <a:solidFill>
              <a:srgbClr val="3D7033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63040"/>
            <a:ext cx="2084832" cy="54864"/>
          </a:xfrm>
          <a:prstGeom prst="rect">
            <a:avLst/>
          </a:prstGeom>
          <a:solidFill>
            <a:srgbClr val="3D7033"/>
          </a:solidFill>
          <a:ln w="12700">
            <a:solidFill>
              <a:srgbClr val="3D7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7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7824" y="15727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18288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192" y="2084832"/>
            <a:ext cx="1810512" cy="22860"/>
          </a:xfrm>
          <a:prstGeom prst="rect">
            <a:avLst/>
          </a:prstGeom>
          <a:solidFill>
            <a:srgbClr val="3D7033">
              <a:alpha val="40000"/>
            </a:srgbClr>
          </a:solidFill>
          <a:ln w="12700">
            <a:solidFill>
              <a:srgbClr val="3D703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6 theriotipos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2688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Shift Meter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Nocturno básico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" y="3712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+ CloudKit sync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143000"/>
            <a:ext cx="256032" cy="256032"/>
          </a:xfrm>
          <a:prstGeom prst="ellipse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1463040"/>
            <a:ext cx="2084832" cy="3383280"/>
          </a:xfrm>
          <a:prstGeom prst="rect">
            <a:avLst/>
          </a:prstGeom>
          <a:solidFill>
            <a:srgbClr val="F0E8D8"/>
          </a:solidFill>
          <a:ln w="11430">
            <a:solidFill>
              <a:srgbClr val="6A9AB8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463040"/>
            <a:ext cx="2084832" cy="54864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072384" y="15727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CERRADA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72384" y="18288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4–6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87752" y="2084832"/>
            <a:ext cx="1810512" cy="22860"/>
          </a:xfrm>
          <a:prstGeom prst="rect">
            <a:avLst/>
          </a:prstGeom>
          <a:solidFill>
            <a:srgbClr val="6A9AB8">
              <a:alpha val="40000"/>
            </a:srgbClr>
          </a:solidFill>
          <a:ln w="12700">
            <a:solidFill>
              <a:srgbClr val="6A9AB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Community read-only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87752" y="2688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integración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87752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200 usuarios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87752" y="3712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expansion (40+ items)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22392" y="1143000"/>
            <a:ext cx="256032" cy="256032"/>
          </a:xfrm>
          <a:prstGeom prst="ellipse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1463040"/>
            <a:ext cx="2084832" cy="3383280"/>
          </a:xfrm>
          <a:prstGeom prst="rect">
            <a:avLst/>
          </a:prstGeom>
          <a:solidFill>
            <a:srgbClr val="F0E8D8"/>
          </a:solidFill>
          <a:ln w="11430">
            <a:solidFill>
              <a:srgbClr val="C4882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463040"/>
            <a:ext cx="2084832" cy="54864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266944" y="15727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APP STORE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66944" y="18288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7–9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82312" y="2084832"/>
            <a:ext cx="1810512" cy="22860"/>
          </a:xfrm>
          <a:prstGeom prst="rect">
            <a:avLst/>
          </a:prstGeom>
          <a:solidFill>
            <a:srgbClr val="C4882A">
              <a:alpha val="40000"/>
            </a:srgbClr>
          </a:solidFill>
          <a:ln w="12700">
            <a:solidFill>
              <a:srgbClr val="C4882A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activos + Howl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82312" y="2688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Rituales estacionales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82312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iOS (WidgetKit)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82312" y="3712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WeatherKit hábitats dinámicos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16952" y="1143000"/>
            <a:ext cx="256032" cy="256032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1463040"/>
            <a:ext cx="2084832" cy="3383280"/>
          </a:xfrm>
          <a:prstGeom prst="rect">
            <a:avLst/>
          </a:prstGeom>
          <a:solidFill>
            <a:srgbClr val="F0E8D8"/>
          </a:solidFill>
          <a:ln w="11430">
            <a:solidFill>
              <a:srgbClr val="C8A030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39712" y="1463040"/>
            <a:ext cx="2084832" cy="5486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7461504" y="15727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MUNDO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61504" y="18288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10–15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76872" y="2084832"/>
            <a:ext cx="1810512" cy="22860"/>
          </a:xfrm>
          <a:prstGeom prst="rect">
            <a:avLst/>
          </a:prstGeom>
          <a:solidFill>
            <a:srgbClr val="C8A030">
              <a:alpha val="40000"/>
            </a:srgbClr>
          </a:solidFill>
          <a:ln w="12700">
            <a:solidFill>
              <a:srgbClr val="C8A030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76872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MapKit Mundo Explorable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76872" y="2688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Shaders Instinct Mode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76872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chat Redis realtime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76872" y="3712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A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companion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80B07"/>
          </a:solidFill>
          <a:ln w="12700">
            <a:solidFill>
              <a:srgbClr val="080B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0292" cy="5143500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57200"/>
            <a:ext cx="3328416" cy="3328416"/>
          </a:xfrm>
          <a:prstGeom prst="ellipse">
            <a:avLst/>
          </a:prstGeom>
          <a:solidFill>
            <a:srgbClr val="2A5220">
              <a:alpha val="45000"/>
            </a:srgbClr>
          </a:solidFill>
          <a:ln w="10160">
            <a:solidFill>
              <a:srgbClr val="3D70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877824"/>
            <a:ext cx="2487168" cy="2487168"/>
          </a:xfrm>
          <a:prstGeom prst="ellipse">
            <a:avLst/>
          </a:prstGeom>
          <a:solidFill>
            <a:srgbClr val="3D7033">
              <a:alpha val="32000"/>
            </a:srgbClr>
          </a:solidFill>
          <a:ln w="7620">
            <a:solidFill>
              <a:srgbClr val="6AA8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335024"/>
            <a:ext cx="1572768" cy="1572768"/>
          </a:xfrm>
          <a:prstGeom prst="ellipse">
            <a:avLst/>
          </a:prstGeom>
          <a:solidFill>
            <a:srgbClr val="2A5220">
              <a:alpha val="55000"/>
            </a:srgbClr>
          </a:solidFill>
          <a:ln w="6350">
            <a:solidFill>
              <a:srgbClr val="9DC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DC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ᚹ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82880" y="3657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es un avatar.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el reflejo de algo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ya existe dentro de ti."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82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TÉCNICA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60520" y="4572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9DC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completo. Decisiones sólidas. Listo para escalar.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0" y="1115568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6AA8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115568"/>
            <a:ext cx="54864" cy="420624"/>
          </a:xfrm>
          <a:prstGeom prst="rect">
            <a:avLst/>
          </a:prstGeom>
          <a:solidFill>
            <a:srgbClr val="6AA85A"/>
          </a:solidFill>
          <a:ln w="12700">
            <a:solidFill>
              <a:srgbClr val="6AA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15214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+ Metal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79392" y="1344168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Canvas, MeshGradient, Instinct Mode Shaders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0" y="1600200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9DC9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600200"/>
            <a:ext cx="54864" cy="420624"/>
          </a:xfrm>
          <a:prstGeom prst="rect">
            <a:avLst/>
          </a:prstGeom>
          <a:solidFill>
            <a:srgbClr val="9DC98A"/>
          </a:solidFill>
          <a:ln w="12700">
            <a:solidFill>
              <a:srgbClr val="9DC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636776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79392" y="1828800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TheriotipoProfile, RitualRecord, CloudKit sync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2084832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6A9A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084832"/>
            <a:ext cx="54864" cy="420624"/>
          </a:xfrm>
          <a:prstGeom prst="rect">
            <a:avLst/>
          </a:prstGeom>
          <a:solidFill>
            <a:srgbClr val="6A9AB8"/>
          </a:solidFill>
          <a:ln w="12700">
            <a:solidFill>
              <a:srgbClr val="6A9A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21214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79392" y="2313432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Controller→Service→Repository, JWT rotation, Zod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2569464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C488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569464"/>
            <a:ext cx="54864" cy="420624"/>
          </a:xfrm>
          <a:prstGeom prst="rect">
            <a:avLst/>
          </a:prstGeom>
          <a:solidFill>
            <a:srgbClr val="C4882A"/>
          </a:solidFill>
          <a:ln w="12700">
            <a:solidFill>
              <a:srgbClr val="C48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60604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79392" y="279806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tablas, FK constraints, soft delete, migrations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0" y="3054096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C45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054096"/>
            <a:ext cx="54864" cy="420624"/>
          </a:xfrm>
          <a:prstGeom prst="rect">
            <a:avLst/>
          </a:prstGeom>
          <a:solidFill>
            <a:srgbClr val="C45A2A"/>
          </a:solidFill>
          <a:ln w="12700">
            <a:solidFill>
              <a:srgbClr val="C45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3090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79392" y="328269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blacklist JWT, rate limit, Pub/Sub pack chat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0" y="3538728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C8A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3538728"/>
            <a:ext cx="54864" cy="42062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357530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MapKit + CoreLoc.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79392" y="3767328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Geofencing, Significant changes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0" y="4023360"/>
            <a:ext cx="4773168" cy="420624"/>
          </a:xfrm>
          <a:prstGeom prst="rect">
            <a:avLst/>
          </a:prstGeom>
          <a:solidFill>
            <a:srgbClr val="0F1C0C"/>
          </a:solidFill>
          <a:ln w="8890">
            <a:solidFill>
              <a:srgbClr val="8A9A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4023360"/>
            <a:ext cx="54864" cy="420624"/>
          </a:xfrm>
          <a:prstGeom prst="rect">
            <a:avLst/>
          </a:prstGeom>
          <a:solidFill>
            <a:srgbClr val="8A9A88"/>
          </a:solidFill>
          <a:ln w="12700">
            <a:solidFill>
              <a:srgbClr val="8A9A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9392" y="4059936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79392" y="4251960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Pasos, Mindfulness, HRV → harmonyScore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706"/>
          </a:solidFill>
          <a:ln w="12700">
            <a:solidFill>
              <a:srgbClr val="050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wildsoul.app  ·  iOS 17+  ·  Confidencial — WildSoul Studios  ·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WildSoul: The Shift — Pitch Deck</dc:title>
  <dc:subject>PptxGenJS Presentation</dc:subject>
  <dc:creator>WildSoul Studios</dc:creator>
  <cp:lastModifiedBy>WildSoul Studios</cp:lastModifiedBy>
  <cp:revision>1</cp:revision>
  <dcterms:created xsi:type="dcterms:W3CDTF">2026-03-11T17:33:46Z</dcterms:created>
  <dcterms:modified xsi:type="dcterms:W3CDTF">2026-03-11T17:33:46Z</dcterms:modified>
</cp:coreProperties>
</file>